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 상황 공유와, 센서 구성 및 화면 방향을 확정하기 위한 의견 요청입니다.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장치 사이 인터페이스가 한 줄 데이터 하나뿐이라, 센서 쪽 구성이 바뀌어도 우리 작업에 영향이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긴급차량은 차종을 알아보는 대신 경광등 점멸을 찾습니다. 소리가 이미 사이렌이라고 알려주었으므로 종류를 다시 판별할 필요가 없고, 어느 것인지만 고르면 됩니다. 학습 데이터가 필요 없고 야간에 오히려 더 잘 동작합니다. 차종 인식 방식은 향후 확장 항목으로 남겨둡니다.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사각지대 경고와 무엇이 다르냐는 질문에 대한 답을 오른쪽에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팀원이 만든 화면 보호기 구조와 색상 팔레트는 유지하고, 알림 상태에만 지도를 얹습니다.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의견을 반영해 다음 주부터 M1과 M2를 병행 진행할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852160" cy="5852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16224A"/>
          </a:solidFill>
          <a:ln w="12700">
            <a:solidFill>
              <a:srgbClr val="162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보고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먼저 알아채는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위험 인지 시스템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긴급차량과 오토바이를 운전자에게 알려주는 장치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Orin Nano · ReSpeaker v2.0 · VLP-16 · 카메라 4대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확정하고 싶은 세 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01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구성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+ LiDAR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야간과 악천후에서도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동작하는 구성으로 확정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901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방식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0288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찾고 눈으로 확인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028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방향을 알려주면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카메라와 LiDAR가 확인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901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방식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47888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상황 지도 중심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788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영상 대신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 본 지도를 주화면으로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거리를 계산하려던 방식을 포기하고, LiDAR가 이미 측정한 차량 중에서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소리와 맞는 차량을 골라내는 방식으로 바꿉니다.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상황과 과제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인식은 실차 검증까지 마쳤고, 위치 표시가 남았습니다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완료한 내용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39572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4140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08960" y="24140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음원 클래스 학습 후 경량화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0540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0723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이식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8960" y="30723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탑재, 360° 마이크 연동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71246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37307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실차 검증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08960" y="37307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사이렌 인식 시험 완료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4526280"/>
            <a:ext cx="461772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km/h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속도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32888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532888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정확도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05656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</a:t>
            </a:r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°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105656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수음 범위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373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E8EEFC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어느 쪽에서 나는지는 알 수 있지만,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차량이 내는 소리인지 지목할 수 없습니다.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3264408"/>
            <a:ext cx="155448" cy="1554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3182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알 수 없음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76288" y="3474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음량은 차종과 주변 환경에 따라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달라져 거리 계산이 불가능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0" y="4105656"/>
            <a:ext cx="155448" cy="1554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오차가 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76288" y="43159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20° 이상 벌어져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한 대를 특정하기 어려움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4946904"/>
            <a:ext cx="155448" cy="1554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48646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카메라만으로 한계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76288" y="5157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4대가 겹치지 않게 배치되어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계산의 기준선이 없음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구성 결정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야간과 악천후까지 고려해 카메라와 LiDAR를 함께 사용합니다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1709928"/>
            <a:ext cx="2788920" cy="3547872"/>
          </a:xfrm>
          <a:prstGeom prst="roundRect">
            <a:avLst>
              <a:gd name="adj" fmla="val 2951"/>
            </a:avLst>
          </a:prstGeom>
          <a:solidFill>
            <a:srgbClr val="E8EE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1783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80760" y="1783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15400" y="17830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+ LiDAR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08813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정확도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350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±20°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2350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±0.1°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15400" y="23500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±0.1°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1088136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정확도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불가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±15~25%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9169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83864"/>
            <a:ext cx="1088136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838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동작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4838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4838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34838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1088136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507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악천후 동작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40507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40507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05079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177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특정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46177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46177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15400" y="46177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5605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카메라는 사람이 보는 장면을, LiDAR는 거리를 담당하도록 역할을 나눕니다.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탑재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루프랙 프레임에 카메라 4대와 LiDAR를 함께 고정합니다</a:t>
            </a:r>
            <a:endParaRPr lang="en-US" sz="1400" dirty="0"/>
          </a:p>
        </p:txBody>
      </p:sp>
      <p:pic>
        <p:nvPicPr>
          <p:cNvPr id="4" name="Image 0" descr="/mnt/user-data/uploads/178556406166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394960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737360"/>
            <a:ext cx="5166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29400" y="1920240"/>
            <a:ext cx="173736" cy="1737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8470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4대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9440" y="21396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전후좌우 90° 간격 배치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확인과 경광등 점멸 검출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2743200"/>
            <a:ext cx="5166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926080"/>
            <a:ext cx="173736" cy="1737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8529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LiDAR (VLP-16)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9440" y="31455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중앙 최상단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차체에 가리면 하단 빔이 사라짐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3749040"/>
            <a:ext cx="5166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3931920"/>
            <a:ext cx="173736" cy="1737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8587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어레이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49440" y="4151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장착 필요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방풍 커버로 주행 바람 소리 차단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4754880"/>
            <a:ext cx="5166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4937760"/>
            <a:ext cx="173736" cy="1737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4864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 사각지대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49440" y="5157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약 6m 이내는 LiDAR 사각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소리와 예측으로 보완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연결과 동기화는 연구실에서 담당하고, 우리는 인식과 화면을 맡습니다.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파이프라인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Jetson은 소리만 듣고, 나머지는 노트북이 처리합니다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00200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84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43230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전담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82880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066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4채널 수음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24323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어레이 입력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94376" y="2395728"/>
            <a:ext cx="91440" cy="0"/>
          </a:xfrm>
          <a:prstGeom prst="line">
            <a:avLst/>
          </a:prstGeom>
          <a:noFill/>
          <a:ln w="19050">
            <a:solidFill>
              <a:srgbClr val="A9B3C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182880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066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종류 분류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4323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사이렌·경적·배기음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2395728"/>
            <a:ext cx="91440" cy="0"/>
          </a:xfrm>
          <a:prstGeom prst="line">
            <a:avLst/>
          </a:prstGeom>
          <a:noFill/>
          <a:ln w="19050">
            <a:solidFill>
              <a:srgbClr val="A9B3C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41080" y="2066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방향 추정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24323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±10~20°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44752" y="3063240"/>
            <a:ext cx="0" cy="411480"/>
          </a:xfrm>
          <a:prstGeom prst="line">
            <a:avLst/>
          </a:prstGeom>
          <a:noFill/>
          <a:ln w="19050">
            <a:solidFill>
              <a:srgbClr val="A9B3C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737360" y="3127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4회, 한 줄 데이터만 전달합니다. 영상과 점군은 오가지 않습니다.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1600200" cy="1143000"/>
          </a:xfrm>
          <a:prstGeom prst="roundRect">
            <a:avLst>
              <a:gd name="adj" fmla="val 7200"/>
            </a:avLst>
          </a:prstGeom>
          <a:solidFill>
            <a:srgbClr val="D4DCF0"/>
          </a:solidFill>
          <a:ln w="12700">
            <a:solidFill>
              <a:srgbClr val="D4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22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416966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영상·거리·화면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56616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방향 카메라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97480" y="4169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경광등 점멸 확인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4376" y="4133088"/>
            <a:ext cx="91440" cy="0"/>
          </a:xfrm>
          <a:prstGeom prst="line">
            <a:avLst/>
          </a:prstGeom>
          <a:noFill/>
          <a:ln w="19050">
            <a:solidFill>
              <a:srgbClr val="A9B3C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94960" y="356616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E8EEFC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LiDAR 거리 측정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4169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위치 확정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66176" y="4133088"/>
            <a:ext cx="91440" cy="0"/>
          </a:xfrm>
          <a:prstGeom prst="line">
            <a:avLst/>
          </a:prstGeom>
          <a:noFill/>
          <a:ln w="19050">
            <a:solidFill>
              <a:srgbClr val="A9B3C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66760" y="356616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4108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41080" y="4169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지도와 테두리 알림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평상시 경로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0120" y="5486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경광등 점멸은 학습 없이 바로 찾을 수 있어 약 0.5초면 됩니다.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502920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8368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야간·악천후 경로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583680" y="5486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경광등이 보이지 않으면 소리 방향의 변화와 차량 움직임을 대조합니다.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소리마다 다른 대응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소리에 각각 다른 방식으로 대응합니다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긴급차량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곳에서 접근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3127248"/>
            <a:ext cx="278892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3374136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291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경광등 점멸로 찾아냄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3886200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8039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LiDAR가 거리 측정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398264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차량 위치 표시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E8EEFC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0288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2249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배기음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90288" y="2724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골목과 근접 주행 모두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0288" y="3127248"/>
            <a:ext cx="278892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3374136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291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뒤는 소리로 미리 감지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3886200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8039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가까이 붙으면 지도에 표시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90288" y="4398264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위험도에 따라 단계 구분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17373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7888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차량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47888" y="22494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경적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47888" y="2724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즉각 반응이 필요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47888" y="3127248"/>
            <a:ext cx="278892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374136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291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즉시 표시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47888" y="3886200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38039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방향 카메라도 함께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47888" y="4398264"/>
            <a:ext cx="118872" cy="118872"/>
          </a:xfrm>
          <a:prstGeom prst="ellipse">
            <a:avLst/>
          </a:prstGeom>
          <a:solidFill>
            <a:srgbClr val="A9B3CE"/>
          </a:solidFill>
          <a:ln w="12700">
            <a:solidFill>
              <a:srgbClr val="A9B3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3159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거리는 추정하지 않음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16636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60120" y="5321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 경고는 카메라와 LiDAR가 볼 수 없는 곳을 다루기 때문에,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센서를 쓰는 이유를 가장 잘 보여주는 기능입니다.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 경고 설계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오토바이를 경고하지 않고 상황에 따라 나눕니다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286000"/>
            <a:ext cx="548640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496312"/>
            <a:ext cx="173736" cy="173736"/>
          </a:xfrm>
          <a:prstGeom prst="ellipse">
            <a:avLst/>
          </a:prstGeom>
          <a:solidFill>
            <a:srgbClr val="3A3E48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432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주변에 있으나 멀어짐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432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점, 알림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871216"/>
            <a:ext cx="5486400" cy="0"/>
          </a:xfrm>
          <a:prstGeom prst="line">
            <a:avLst/>
          </a:prstGeom>
          <a:noFill/>
          <a:ln w="635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99816"/>
            <a:ext cx="173736" cy="173736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035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15~25m에서 접근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0358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 마커로 강조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474720"/>
            <a:ext cx="5486400" cy="0"/>
          </a:xfrm>
          <a:prstGeom prst="line">
            <a:avLst/>
          </a:prstGeom>
          <a:noFill/>
          <a:ln w="6350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703320"/>
            <a:ext cx="173736" cy="173736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639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15m 이내로 근접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마커와 테두리 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4078224"/>
            <a:ext cx="5486400" cy="0"/>
          </a:xfrm>
          <a:prstGeom prst="line">
            <a:avLst/>
          </a:prstGeom>
          <a:noFill/>
          <a:ln w="6350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306824"/>
            <a:ext cx="173736" cy="173736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2428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진입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42428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17720" y="42428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 구역 자체를 점등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4681728"/>
            <a:ext cx="5486400" cy="0"/>
          </a:xfrm>
          <a:prstGeom prst="line">
            <a:avLst/>
          </a:prstGeom>
          <a:noFill/>
          <a:ln w="6350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910328"/>
            <a:ext cx="173736" cy="173736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846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벽에 가린 골목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17720" y="4846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부채꼴과 시야 밖 표시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285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도심에서 매번 경고하면 운전자가 곧 알림을 무시하게 됩니다.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49440" y="1737360"/>
            <a:ext cx="4572000" cy="1874520"/>
          </a:xfrm>
          <a:prstGeom prst="roundRect">
            <a:avLst>
              <a:gd name="adj" fmla="val 4390"/>
            </a:avLst>
          </a:prstGeom>
          <a:solidFill>
            <a:srgbClr val="E8EEFC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69480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사각지대를 다루는 방법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9480" y="23317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옆을 스칠 때는 LiDAR가 보지 못합니다.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하나로 찍으면 없는 정확도를 있는 것처럼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보이므로, 사각 구역 자체를 붉게 띄웁니다.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3794760"/>
            <a:ext cx="457200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3995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차량 경고와의 차이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269480" y="4480560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4074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기능은 옆 차선 일부만 감지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269480" y="4864608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4791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360° 전방향에 소리로 먼저 감지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269480" y="5248656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5175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뒤 골목은 기존 기능으로 불가능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모를 때는 모른다고 표시하는 것이 원칙입니다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783080"/>
          </a:xfrm>
          <a:prstGeom prst="roundRect">
            <a:avLst>
              <a:gd name="adj" fmla="val 3590"/>
            </a:avLst>
          </a:prstGeom>
          <a:solidFill>
            <a:srgbClr val="0B0B0B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1965960"/>
            <a:ext cx="1280160" cy="1280160"/>
          </a:xfrm>
          <a:prstGeom prst="ellipse">
            <a:avLst/>
          </a:prstGeom>
          <a:solidFill>
            <a:srgbClr val="0B0B0B"/>
          </a:solidFill>
          <a:ln w="6350">
            <a:solidFill>
              <a:srgbClr val="1E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417320" y="2148840"/>
            <a:ext cx="777240" cy="914400"/>
          </a:xfrm>
          <a:prstGeom prst="triangle">
            <a:avLst/>
          </a:prstGeom>
          <a:solidFill>
            <a:srgbClr val="FFD400">
              <a:alpha val="22000"/>
            </a:srgbClr>
          </a:solidFill>
          <a:ln w="9525">
            <a:solidFill>
              <a:srgbClr val="FFD40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08276" y="2514600"/>
            <a:ext cx="109728" cy="182880"/>
          </a:xfrm>
          <a:prstGeom prst="roundRect">
            <a:avLst>
              <a:gd name="adj" fmla="val 25000"/>
            </a:avLst>
          </a:prstGeom>
          <a:solidFill>
            <a:srgbClr val="0B0B0B"/>
          </a:solidFill>
          <a:ln w="15875">
            <a:solidFill>
              <a:srgbClr val="00C2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74520"/>
            <a:ext cx="100584" cy="1554480"/>
          </a:xfrm>
          <a:prstGeom prst="roundRect">
            <a:avLst>
              <a:gd name="adj" fmla="val 45455"/>
            </a:avLst>
          </a:prstGeom>
          <a:solidFill>
            <a:srgbClr val="FFD400">
              <a:alpha val="60000"/>
            </a:srgbClr>
          </a:solidFill>
          <a:ln w="12700">
            <a:solidFill>
              <a:srgbClr val="FFD40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사이렌 · 좌측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3246120" cy="1783080"/>
          </a:xfrm>
          <a:prstGeom prst="roundRect">
            <a:avLst>
              <a:gd name="adj" fmla="val 3590"/>
            </a:avLst>
          </a:prstGeom>
          <a:solidFill>
            <a:srgbClr val="0B0B0B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9220" y="1965960"/>
            <a:ext cx="1280160" cy="1280160"/>
          </a:xfrm>
          <a:prstGeom prst="ellipse">
            <a:avLst/>
          </a:prstGeom>
          <a:solidFill>
            <a:srgbClr val="0B0B0B"/>
          </a:solidFill>
          <a:ln w="6350">
            <a:solidFill>
              <a:srgbClr val="1E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4940" y="2240280"/>
            <a:ext cx="182880" cy="310896"/>
          </a:xfrm>
          <a:prstGeom prst="roundRect">
            <a:avLst>
              <a:gd name="adj" fmla="val 20000"/>
            </a:avLst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2764" y="2688336"/>
            <a:ext cx="164592" cy="274320"/>
          </a:xfrm>
          <a:prstGeom prst="roundRect">
            <a:avLst>
              <a:gd name="adj" fmla="val 22222"/>
            </a:avLst>
          </a:prstGeom>
          <a:solidFill>
            <a:srgbClr val="3A3E48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4436" y="2514600"/>
            <a:ext cx="109728" cy="182880"/>
          </a:xfrm>
          <a:prstGeom prst="roundRect">
            <a:avLst>
              <a:gd name="adj" fmla="val 25000"/>
            </a:avLst>
          </a:prstGeom>
          <a:solidFill>
            <a:srgbClr val="0B0B0B"/>
          </a:solidFill>
          <a:ln w="15875">
            <a:solidFill>
              <a:srgbClr val="00C2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874520"/>
            <a:ext cx="100584" cy="1554480"/>
          </a:xfrm>
          <a:prstGeom prst="roundRect">
            <a:avLst>
              <a:gd name="adj" fmla="val 45455"/>
            </a:avLst>
          </a:prstGeom>
          <a:solidFill>
            <a:srgbClr val="FF3B30">
              <a:alpha val="70000"/>
            </a:srgbClr>
          </a:solidFill>
          <a:ln w="12700">
            <a:solidFill>
              <a:srgbClr val="FF3B30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2788920"/>
            <a:ext cx="731520" cy="457200"/>
          </a:xfrm>
          <a:prstGeom prst="roundRect">
            <a:avLst>
              <a:gd name="adj" fmla="val 8000"/>
            </a:avLst>
          </a:prstGeom>
          <a:solidFill>
            <a:srgbClr val="3A3E48"/>
          </a:solidFill>
          <a:ln w="6350">
            <a:solidFill>
              <a:srgbClr val="4A4E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구급차 · 24m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1783080"/>
            <a:ext cx="3246120" cy="1783080"/>
          </a:xfrm>
          <a:prstGeom prst="roundRect">
            <a:avLst>
              <a:gd name="adj" fmla="val 3590"/>
            </a:avLst>
          </a:prstGeom>
          <a:solidFill>
            <a:srgbClr val="0B0B0B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5380" y="1965960"/>
            <a:ext cx="1280160" cy="1280160"/>
          </a:xfrm>
          <a:prstGeom prst="ellipse">
            <a:avLst/>
          </a:prstGeom>
          <a:solidFill>
            <a:srgbClr val="0B0B0B"/>
          </a:solidFill>
          <a:ln w="6350">
            <a:solidFill>
              <a:srgbClr val="1E21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3980" y="2194560"/>
            <a:ext cx="822960" cy="822960"/>
          </a:xfrm>
          <a:prstGeom prst="ellipse">
            <a:avLst/>
          </a:prstGeom>
          <a:solidFill>
            <a:srgbClr val="FF3B30">
              <a:alpha val="18000"/>
            </a:srgbClr>
          </a:solidFill>
          <a:ln w="6350">
            <a:solidFill>
              <a:srgbClr val="FF3B3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8997696" y="2400300"/>
            <a:ext cx="384048" cy="411480"/>
          </a:xfrm>
          <a:prstGeom prst="triangle">
            <a:avLst/>
          </a:prstGeom>
          <a:solidFill>
            <a:srgbClr val="FF3B30">
              <a:alpha val="75000"/>
            </a:srgbClr>
          </a:solidFill>
          <a:ln w="6350">
            <a:solidFill>
              <a:srgbClr val="FF3B30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40596" y="2514600"/>
            <a:ext cx="109728" cy="182880"/>
          </a:xfrm>
          <a:prstGeom prst="roundRect">
            <a:avLst>
              <a:gd name="adj" fmla="val 25000"/>
            </a:avLst>
          </a:prstGeom>
          <a:solidFill>
            <a:srgbClr val="0B0B0B"/>
          </a:solidFill>
          <a:ln w="15875">
            <a:solidFill>
              <a:srgbClr val="00C2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45552" y="1874520"/>
            <a:ext cx="118872" cy="1554480"/>
          </a:xfrm>
          <a:prstGeom prst="roundRect">
            <a:avLst>
              <a:gd name="adj" fmla="val 38462"/>
            </a:avLst>
          </a:prstGeom>
          <a:solidFill>
            <a:srgbClr val="FF3B30">
              <a:alpha val="85000"/>
            </a:srgbClr>
          </a:solidFill>
          <a:ln w="12700">
            <a:solidFill>
              <a:srgbClr val="FF3B30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 · 좌측 사각지대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모를 때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부채꼴로 방향만 표시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알 때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206240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차량과 거리 표시, 영상은 작게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보는 구역일 때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772400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전체를 붉게 점등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4805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4645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위험도를 나타냅니다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4937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주변에 있다고 모두 경고하지는 않습니다.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0120" y="5321808"/>
            <a:ext cx="182880" cy="182880"/>
          </a:xfrm>
          <a:prstGeom prst="ellipse">
            <a:avLst/>
          </a:prstGeom>
          <a:solidFill>
            <a:srgbClr val="3A3E48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6152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5596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없음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67128" y="5321808"/>
            <a:ext cx="182880" cy="18288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67128" y="5596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중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5321808"/>
            <a:ext cx="182880" cy="18288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016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74136" y="5596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근접·사각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81144" y="5321808"/>
            <a:ext cx="182880" cy="182880"/>
          </a:xfrm>
          <a:prstGeom prst="ellipse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81144" y="5596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요소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44805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83680" y="4645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 빛으로 방향 알리기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49560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들리는 쪽 테두리만 빛나게 하면 운전자가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보지 않아도 곁눈으로 방향을 알 수 있습니다.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내비게이션은 지도 위에 덧씌우는 방식으로 만들고,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길안내 연동은 이번 범위에서 제외합니다.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계획과 검증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이후로는 언제든 시연 가능한 상태를 유지합니다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인식 개선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9923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방풍 커버 장착 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정확도 재측정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17830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81528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081528" y="2377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추정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81528" y="299923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사이렌 전용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추정 적용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81528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7830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E8EEFC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94376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94376" y="2377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전환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94376" y="299923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방향 카메라를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자동 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94376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가능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78624" y="17830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07224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07224" y="2377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경광등 검출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07224" y="299923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점멸 인식과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LiDAR 거리 연결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07224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17830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20072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B3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720072" y="2377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 경고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20072" y="299923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배기음 데이터 수집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골목·근접 경고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20072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928616"/>
            <a:ext cx="137160" cy="1371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97864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정확도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97864" y="5102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속도별·소리 종류별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4928616"/>
            <a:ext cx="137160" cy="1371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75304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오차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75304" y="5102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각도 대비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0120" y="5495544"/>
            <a:ext cx="137160" cy="1371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97864" y="5413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 정확도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97864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차량 선택률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5495544"/>
            <a:ext cx="137160" cy="1371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5413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 횟수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575304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주행 10분당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42976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12700" dir="5400000">
              <a:srgbClr val="1E2761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8368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시험과 데이터 계획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83680" y="4800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차량 지붕에 스피커를 얹고 함께 주행하면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차량이 곧 정답이 됩니다.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83680" y="54132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긴급차량은 학습 데이터가 필요 없습니다. 오토바이 배기음만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녹음하면 되고, 주행 소음을 섞어 학습해야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도로에서 성능이 유지됩니다.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120640" cy="5120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여쭙고 싶은 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항목에 의견을 주시면 다음 단계를 확정하겠습니다.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0" cy="1463040"/>
          </a:xfrm>
          <a:prstGeom prst="roundRect">
            <a:avLst>
              <a:gd name="adj" fmla="val 5625"/>
            </a:avLst>
          </a:prstGeom>
          <a:solidFill>
            <a:srgbClr val="16224A"/>
          </a:solidFill>
          <a:ln w="9525">
            <a:solidFill>
              <a:srgbClr val="2E3D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40487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27632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구성 확정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898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카메라와 LiDAR를 함께 쓰는 구성으로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확정해도 괜찮을지 확인 부탁드립니다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029200" cy="1463040"/>
          </a:xfrm>
          <a:prstGeom prst="roundRect">
            <a:avLst>
              <a:gd name="adj" fmla="val 5625"/>
            </a:avLst>
          </a:prstGeom>
          <a:solidFill>
            <a:srgbClr val="16224A"/>
          </a:solidFill>
          <a:ln w="9525">
            <a:solidFill>
              <a:srgbClr val="2E3D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40487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차량 협조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898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탑재 차량과 오토바이를 함께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운행할 인력 협조를 요청드립니다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931920"/>
            <a:ext cx="5029200" cy="1463040"/>
          </a:xfrm>
          <a:prstGeom prst="roundRect">
            <a:avLst>
              <a:gd name="adj" fmla="val 5625"/>
            </a:avLst>
          </a:prstGeom>
          <a:solidFill>
            <a:srgbClr val="16224A"/>
          </a:solidFill>
          <a:ln w="9525">
            <a:solidFill>
              <a:srgbClr val="2E3D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18795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27632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오토바이 시험 장소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817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진입과 근접 주행을 안전하게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시험할 장소와 절차를 문의드립니다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029200" cy="1463040"/>
          </a:xfrm>
          <a:prstGeom prst="roundRect">
            <a:avLst>
              <a:gd name="adj" fmla="val 5625"/>
            </a:avLst>
          </a:prstGeom>
          <a:solidFill>
            <a:srgbClr val="16224A"/>
          </a:solidFill>
          <a:ln w="9525">
            <a:solidFill>
              <a:srgbClr val="2E3D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418795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6872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범위 한정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4808" y="46817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속도 정보를 직접 받기 어려워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 정속 구간으로 한정하려 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2026-08-01T11:51:28Z</dcterms:created>
  <dcterms:modified xsi:type="dcterms:W3CDTF">2026-08-01T11:51:28Z</dcterms:modified>
</cp:coreProperties>
</file>