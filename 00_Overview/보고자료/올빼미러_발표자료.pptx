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46120" y="502920"/>
            <a:ext cx="1417320" cy="1417320"/>
          </a:xfrm>
          <a:prstGeom prst="ellips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502920"/>
            <a:ext cx="1417320" cy="1417320"/>
          </a:xfrm>
          <a:prstGeom prst="ellips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20440" y="777240"/>
            <a:ext cx="868680" cy="868680"/>
          </a:xfrm>
          <a:prstGeom prst="ellipse">
            <a:avLst/>
          </a:prstGeom>
          <a:solidFill>
            <a:srgbClr val="0F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777240"/>
            <a:ext cx="868680" cy="868680"/>
          </a:xfrm>
          <a:prstGeom prst="ellipse">
            <a:avLst/>
          </a:prstGeom>
          <a:solidFill>
            <a:srgbClr val="0F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3170224" y="3108959"/>
            <a:ext cx="5852160" cy="5852160"/>
          </a:xfrm>
          <a:prstGeom prst="arc">
            <a:avLst>
              <a:gd name="adj1" fmla="val 0"/>
              <a:gd name="adj2" fmla="val 50000"/>
            </a:avLst>
          </a:prstGeom>
          <a:noFill/>
          <a:ln w="2032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2072944" y="2011679"/>
            <a:ext cx="8046720" cy="8046720"/>
          </a:xfrm>
          <a:prstGeom prst="arc">
            <a:avLst>
              <a:gd name="adj1" fmla="val 0"/>
              <a:gd name="adj2" fmla="val 50000"/>
            </a:avLst>
          </a:prstGeom>
          <a:noFill/>
          <a:ln w="15875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975664" y="914400"/>
            <a:ext cx="10241280" cy="10241280"/>
          </a:xfrm>
          <a:prstGeom prst="arc">
            <a:avLst>
              <a:gd name="adj1" fmla="val 0"/>
              <a:gd name="adj2" fmla="val 50000"/>
            </a:avLst>
          </a:prstGeom>
          <a:noFill/>
          <a:ln w="1143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spc="160">
                <a:solidFill>
                  <a:srgbClr val="00C2C7"/>
                </a:solidFill>
                <a:latin typeface="Consolas"/>
              </a:rPr>
              <a:t>한이음 공모전 · 임베디드SW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697480"/>
            <a:ext cx="121916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0" b="1">
                <a:solidFill>
                  <a:srgbClr val="F5F5F3"/>
                </a:solidFill>
                <a:latin typeface="맑은 고딕"/>
              </a:rPr>
              <a:t>올빼미러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3939C"/>
                </a:solidFill>
                <a:latin typeface="맑은 고딕"/>
              </a:rPr>
              <a:t>눈보다 먼저, 소리로 위험을 감지합니다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70916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50" b="0">
                <a:solidFill>
                  <a:srgbClr val="5D5D66"/>
                </a:solidFill>
                <a:latin typeface="Consolas"/>
              </a:rPr>
              <a:t>ReSpeaker 마이크 어레이 + Jetson Orin Nano + 카메라·LiDAR 기반
차량 위험음 인지 및 운전자 시각화 보조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60">
                <a:solidFill>
                  <a:srgbClr val="5D5D66"/>
                </a:solidFill>
                <a:latin typeface="Consolas"/>
              </a:rPr>
              <a:t>OLBAEMIRROR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49224"/>
            <a:ext cx="256032" cy="0"/>
          </a:xfrm>
          <a:prstGeom prst="line">
            <a:avLst/>
          </a:prstGeom>
          <a:ln w="1524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77824" y="548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00C2C7"/>
                </a:solidFill>
                <a:latin typeface="Consolas"/>
              </a:rPr>
              <a:t>WHY —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3"/>
                </a:solidFill>
                <a:latin typeface="맑은 고딕"/>
              </a:rPr>
              <a:t>카메라도, 라이다도
못 보는 곳이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93939C"/>
                </a:solidFill>
                <a:latin typeface="맑은 고딕"/>
              </a:rPr>
              <a:t>골목 뒤, 벽에 가려 시야가 없는 곳.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93939C"/>
                </a:solidFill>
                <a:latin typeface="맑은 고딕"/>
              </a:rPr>
              <a:t>LiDAR조차 닿지 않는 반경 6m 이내 근접 구간.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F5F5F3"/>
                </a:solidFill>
                <a:latin typeface="맑은 고딕"/>
              </a:rPr>
              <a:t>하지만 소리는 벽을 넘어옵니다.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5F3"/>
                </a:solidFill>
                <a:latin typeface="Consolas"/>
              </a:rPr>
              <a:t>6m
</a:t>
            </a:r>
            <a:r>
              <a:rPr sz="1050" b="0">
                <a:solidFill>
                  <a:srgbClr val="5D5D66"/>
                </a:solidFill>
                <a:latin typeface="맑은 고딕"/>
              </a:rPr>
              <a:t>LiDAR 물리적
사각 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11480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5F3"/>
                </a:solidFill>
                <a:latin typeface="Consolas"/>
              </a:rPr>
              <a:t>360°
</a:t>
            </a:r>
            <a:r>
              <a:rPr sz="1050" b="0">
                <a:solidFill>
                  <a:srgbClr val="5D5D66"/>
                </a:solidFill>
                <a:latin typeface="맑은 고딕"/>
              </a:rPr>
              <a:t>ReSpeaker
전방위 수음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914400"/>
            <a:ext cx="5120640" cy="5029200"/>
          </a:xfrm>
          <a:prstGeom prst="rect">
            <a:avLst/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371600"/>
            <a:ext cx="292608" cy="2103120"/>
          </a:xfrm>
          <a:prstGeom prst="rect">
            <a:avLst/>
          </a:prstGeom>
          <a:solidFill>
            <a:srgbClr val="1C1F26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371600"/>
            <a:ext cx="2468880" cy="292608"/>
          </a:xfrm>
          <a:prstGeom prst="rect">
            <a:avLst/>
          </a:prstGeom>
          <a:solidFill>
            <a:srgbClr val="1C1F26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9052559" y="1965960"/>
            <a:ext cx="0" cy="2240280"/>
          </a:xfrm>
          <a:prstGeom prst="line">
            <a:avLst/>
          </a:prstGeom>
          <a:ln w="17780">
            <a:solidFill>
              <a:srgbClr val="5D5D6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924544" y="1828800"/>
            <a:ext cx="256032" cy="256032"/>
          </a:xfrm>
          <a:prstGeom prst="ellipse">
            <a:avLst/>
          </a:prstGeom>
          <a:noFill/>
          <a:ln w="25400">
            <a:solidFill>
              <a:srgbClr val="5D5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961120" y="1883664"/>
            <a:ext cx="182880" cy="182879"/>
          </a:xfrm>
          <a:prstGeom prst="line">
            <a:avLst/>
          </a:prstGeom>
          <a:ln w="25400">
            <a:solidFill>
              <a:srgbClr val="5D5D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961120" y="1883664"/>
            <a:ext cx="182880" cy="182879"/>
          </a:xfrm>
          <a:prstGeom prst="line">
            <a:avLst/>
          </a:prstGeom>
          <a:ln w="25400">
            <a:solidFill>
              <a:srgbClr val="5D5D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53681" y="1852574"/>
            <a:ext cx="219456" cy="219456"/>
          </a:xfrm>
          <a:prstGeom prst="ellipse">
            <a:avLst/>
          </a:prstGeom>
          <a:noFill/>
          <a:ln w="304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48702" y="1852574"/>
            <a:ext cx="219456" cy="219456"/>
          </a:xfrm>
          <a:prstGeom prst="ellipse">
            <a:avLst/>
          </a:prstGeom>
          <a:noFill/>
          <a:ln w="304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163409" y="1742846"/>
            <a:ext cx="395021" cy="219456"/>
          </a:xfrm>
          <a:custGeom>
            <a:avLst/>
            <a:gdLst/>
            <a:ahLst/>
            <a:cxnLst/>
            <a:rect l="l" t="t" r="r" b="b"/>
            <a:pathLst>
              <a:path w="395021" h="219456">
                <a:moveTo>
                  <a:pt x="0" y="219456"/>
                </a:moveTo>
                <a:lnTo>
                  <a:pt x="168250" y="0"/>
                </a:lnTo>
                <a:lnTo>
                  <a:pt x="395021" y="219456"/>
                </a:lnTo>
              </a:path>
            </a:pathLst>
          </a:custGeom>
          <a:noFill/>
          <a:ln w="304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79" y="1417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B98CFF"/>
                </a:solidFill>
                <a:latin typeface="Consolas"/>
              </a:rPr>
              <a:t>배기음 발생</a:t>
            </a:r>
          </a:p>
        </p:txBody>
      </p:sp>
      <p:sp>
        <p:nvSpPr>
          <p:cNvPr id="19" name="Arc 18"/>
          <p:cNvSpPr/>
          <p:nvPr/>
        </p:nvSpPr>
        <p:spPr>
          <a:xfrm>
            <a:off x="6035040" y="1616202"/>
            <a:ext cx="2834640" cy="2834640"/>
          </a:xfrm>
          <a:prstGeom prst="arc">
            <a:avLst>
              <a:gd name="adj1" fmla="val 2000"/>
              <a:gd name="adj2" fmla="val 24000"/>
            </a:avLst>
          </a:prstGeom>
          <a:noFill/>
          <a:ln w="3048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5669280" y="1561338"/>
            <a:ext cx="3566160" cy="3566160"/>
          </a:xfrm>
          <a:prstGeom prst="arc">
            <a:avLst>
              <a:gd name="adj1" fmla="val 2000"/>
              <a:gd name="adj2" fmla="val 24000"/>
            </a:avLst>
          </a:prstGeom>
          <a:noFill/>
          <a:ln w="2286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5303520" y="1506474"/>
            <a:ext cx="4297680" cy="4297680"/>
          </a:xfrm>
          <a:prstGeom prst="arc">
            <a:avLst>
              <a:gd name="adj1" fmla="val 2000"/>
              <a:gd name="adj2" fmla="val 24000"/>
            </a:avLst>
          </a:prstGeom>
          <a:noFill/>
          <a:ln w="1524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46819" y="4549140"/>
            <a:ext cx="411479" cy="685800"/>
          </a:xfrm>
          <a:prstGeom prst="roundRect">
            <a:avLst>
              <a:gd name="adj" fmla="val 35000"/>
            </a:avLst>
          </a:prstGeom>
          <a:noFill/>
          <a:ln w="3302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8937345" y="4604003"/>
            <a:ext cx="230429" cy="246889"/>
          </a:xfrm>
          <a:custGeom>
            <a:avLst/>
            <a:gdLst/>
            <a:ahLst/>
            <a:cxnLst/>
            <a:rect l="l" t="t" r="r" b="b"/>
            <a:pathLst>
              <a:path w="230429" h="246889">
                <a:moveTo>
                  <a:pt x="0" y="246889"/>
                </a:moveTo>
                <a:lnTo>
                  <a:pt x="115214" y="0"/>
                </a:lnTo>
                <a:lnTo>
                  <a:pt x="230429" y="246889"/>
                </a:lnTo>
              </a:path>
            </a:pathLst>
          </a:custGeom>
          <a:noFill/>
          <a:ln w="3302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53492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D5D66"/>
                </a:solidFill>
                <a:latin typeface="Consolas"/>
              </a:rPr>
              <a:t>자차 — 소리로 먼저 인지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60">
                <a:solidFill>
                  <a:srgbClr val="5D5D66"/>
                </a:solidFill>
                <a:latin typeface="Consolas"/>
              </a:rPr>
              <a:t>01 · 문제 정의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49224"/>
            <a:ext cx="256032" cy="0"/>
          </a:xfrm>
          <a:prstGeom prst="line">
            <a:avLst/>
          </a:prstGeom>
          <a:ln w="1524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77824" y="548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00C2C7"/>
                </a:solidFill>
                <a:latin typeface="Consolas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5F3"/>
                </a:solidFill>
                <a:latin typeface="맑은 고딕"/>
              </a:rPr>
              <a:t>판단하는 UI, 놓치지 않는 사각지대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3939C"/>
                </a:solidFill>
                <a:latin typeface="맑은 고딕"/>
              </a:rPr>
              <a:t>작년 임베디드SW 경진대회 대상작이 이미 다룬 영역과 겹치지 않도록, 다른 두 지점에서 시작했습니다.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5D5D66"/>
                </a:solidFill>
                <a:latin typeface="Consolas"/>
              </a:rPr>
              <a:t>기존 방식 (작년 대상작)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663440" cy="2377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400" b="0">
                <a:solidFill>
                  <a:srgbClr val="93939C"/>
                </a:solidFill>
                <a:latin typeface="맑은 고딕"/>
              </a:rPr>
              <a:t>– 룸미러에 방향 텍스트·화살표 표시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400" b="0">
                <a:solidFill>
                  <a:srgbClr val="93939C"/>
                </a:solidFill>
                <a:latin typeface="맑은 고딕"/>
              </a:rPr>
              <a:t>– 시트·핸들 진동으로 경고 전달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400" b="0">
                <a:solidFill>
                  <a:srgbClr val="93939C"/>
                </a:solidFill>
                <a:latin typeface="맑은 고딕"/>
              </a:rPr>
              <a:t>– 옆 차선 등 근거리 감지 위주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3172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111A1A"/>
          </a:solidFill>
          <a:ln w="16510">
            <a:solidFill>
              <a:srgbClr val="1F4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651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00C2C7"/>
                </a:solidFill>
                <a:latin typeface="Consolas"/>
              </a:rPr>
              <a:t>올빼미러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200400"/>
            <a:ext cx="4663440" cy="2377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400" b="0">
                <a:solidFill>
                  <a:srgbClr val="F5F5F3"/>
                </a:solidFill>
                <a:latin typeface="맑은 고딕"/>
              </a:rPr>
              <a:t>– 벽 뒤 골목·근접 사각지대까지 청각으로 선(先)감지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400" b="0">
                <a:solidFill>
                  <a:srgbClr val="F5F5F3"/>
                </a:solidFill>
                <a:latin typeface="맑은 고딕"/>
              </a:rPr>
              <a:t>– 위치 확정 여부·위험도에 따라 표현이 달라지는 BEV 판단형 UI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400" b="0">
                <a:solidFill>
                  <a:srgbClr val="F5F5F3"/>
                </a:solidFill>
                <a:latin typeface="맑은 고딕"/>
              </a:rPr>
              <a:t>– 사이렌·경적·오토바이 배기음 360° 전방향 인식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172200"/>
            <a:ext cx="0" cy="548640"/>
          </a:xfrm>
          <a:prstGeom prst="line">
            <a:avLst/>
          </a:prstGeom>
          <a:ln w="3048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619963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3939C"/>
                </a:solidFill>
                <a:latin typeface="Consolas"/>
              </a:rPr>
              <a:t>“잘못된 지목은 알려주지 않는 것보다 위험하다” — 위치가 불확실하면 마커 대신 방향 부채꼴로만 표시합니다.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60">
                <a:solidFill>
                  <a:srgbClr val="5D5D66"/>
                </a:solidFill>
                <a:latin typeface="Consolas"/>
              </a:rPr>
              <a:t>02 · 차별점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49224"/>
            <a:ext cx="256032" cy="0"/>
          </a:xfrm>
          <a:prstGeom prst="line">
            <a:avLst/>
          </a:prstGeom>
          <a:ln w="1524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77824" y="548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00C2C7"/>
                </a:solidFill>
                <a:latin typeface="Consolas"/>
              </a:rPr>
              <a:t>HOW — 듣는다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5F5F3"/>
                </a:solidFill>
                <a:latin typeface="맑은 고딕"/>
              </a:rPr>
              <a:t>Jetson이 듣고,
노트북이 확인합니다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6949440" cy="2880360"/>
          </a:xfrm>
          <a:prstGeom prst="rect">
            <a:avLst/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2834640" cy="2103120"/>
          </a:xfrm>
          <a:prstGeom prst="roundRect">
            <a:avLst>
              <a:gd name="adj" fmla="val 6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5F3"/>
                </a:solidFill>
                <a:latin typeface="맑은 고딕"/>
              </a:rPr>
              <a:t>Jetson Orin Nano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5D66"/>
                </a:solidFill>
                <a:latin typeface="Consolas"/>
              </a:rPr>
              <a:t>오디오 전담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C9C9D0"/>
                </a:solidFill>
                <a:latin typeface="맑은 고딕"/>
              </a:rPr>
              <a:t>· 4채널 수음 (ReSpeaker)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C9C9D0"/>
                </a:solidFill>
                <a:latin typeface="맑은 고딕"/>
              </a:rPr>
              <a:t>· 소리 분류 (5클래스)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C9C9D0"/>
                </a:solidFill>
                <a:latin typeface="맑은 고딕"/>
              </a:rPr>
              <a:t>· 방향(DoA) 추정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14600"/>
            <a:ext cx="2834640" cy="2103120"/>
          </a:xfrm>
          <a:prstGeom prst="roundRect">
            <a:avLst>
              <a:gd name="adj" fmla="val 6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5F3"/>
                </a:solidFill>
                <a:latin typeface="맑은 고딕"/>
              </a:rPr>
              <a:t>노트북 (ROS2)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5D66"/>
                </a:solidFill>
                <a:latin typeface="Consolas"/>
              </a:rPr>
              <a:t>영상 · 거리 · 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C9C9D0"/>
                </a:solidFill>
                <a:latin typeface="맑은 고딕"/>
              </a:rPr>
              <a:t>· 카메라 4대 + LiDAR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C9C9D0"/>
                </a:solidFill>
                <a:latin typeface="맑은 고딕"/>
              </a:rPr>
              <a:t>· 경광등·차종 Detection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C9C9D0"/>
                </a:solidFill>
                <a:latin typeface="맑은 고딕"/>
              </a:rPr>
              <a:t>· BEV 지도 UI 표시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3566160"/>
            <a:ext cx="640080" cy="0"/>
          </a:xfrm>
          <a:prstGeom prst="line">
            <a:avLst/>
          </a:prstGeom>
          <a:ln w="2032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94759" y="3108960"/>
            <a:ext cx="457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0C2C7"/>
                </a:solidFill>
                <a:latin typeface="Consolas"/>
              </a:rPr>
              <a:t>이더넷 직결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3657600"/>
            <a:ext cx="457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D5D66"/>
                </a:solidFill>
                <a:latin typeface="Consolas"/>
              </a:rPr>
              <a:t>JSON · 초당 4회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480559"/>
            <a:ext cx="4389120" cy="365760"/>
          </a:xfrm>
          <a:prstGeom prst="roundRect">
            <a:avLst>
              <a:gd name="adj" fmla="val 15000"/>
            </a:avLst>
          </a:prstGeom>
          <a:solidFill>
            <a:srgbClr val="08080A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535423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939C"/>
                </a:solidFill>
                <a:latin typeface="Consolas"/>
              </a:rPr>
              <a:t>{ class, conf, theta, sigma 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694944" cy="384048"/>
          </a:xfrm>
          <a:prstGeom prst="roundRect">
            <a:avLst>
              <a:gd name="adj" fmla="val 50000"/>
            </a:avLst>
          </a:prstGeom>
          <a:solidFill>
            <a:srgbClr val="0E0E11"/>
          </a:solidFill>
          <a:ln w="1270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" y="5486400"/>
            <a:ext cx="109728" cy="109728"/>
          </a:xfrm>
          <a:prstGeom prst="ellipse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422392"/>
            <a:ext cx="4023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5F3"/>
                </a:solidFill>
                <a:latin typeface="Consolas"/>
              </a:rPr>
              <a:t>siren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349240"/>
            <a:ext cx="936345" cy="384048"/>
          </a:xfrm>
          <a:prstGeom prst="roundRect">
            <a:avLst>
              <a:gd name="adj" fmla="val 50000"/>
            </a:avLst>
          </a:prstGeom>
          <a:solidFill>
            <a:srgbClr val="0E0E11"/>
          </a:solidFill>
          <a:ln w="1270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90472" y="5486400"/>
            <a:ext cx="109728" cy="109728"/>
          </a:xfrm>
          <a:prstGeom prst="ellipse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64208" y="5422392"/>
            <a:ext cx="64373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5F3"/>
                </a:solidFill>
                <a:latin typeface="Consolas"/>
              </a:rPr>
              <a:t>car_horn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35961" y="534924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E0E11"/>
          </a:solidFill>
          <a:ln w="1270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54833" y="5486400"/>
            <a:ext cx="109728" cy="109728"/>
          </a:xfrm>
          <a:prstGeom prst="ellipse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8569" y="5422392"/>
            <a:ext cx="8046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5F3"/>
                </a:solidFill>
                <a:latin typeface="Consolas"/>
              </a:rPr>
              <a:t>motorcycle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61257" y="5349240"/>
            <a:ext cx="1338681" cy="384048"/>
          </a:xfrm>
          <a:prstGeom prst="roundRect">
            <a:avLst>
              <a:gd name="adj" fmla="val 50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80129" y="5486400"/>
            <a:ext cx="109728" cy="109728"/>
          </a:xfrm>
          <a:prstGeom prst="ellipse">
            <a:avLst/>
          </a:prstGeom>
          <a:solidFill>
            <a:srgbClr val="5D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3865" y="5422392"/>
            <a:ext cx="104607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5F3"/>
                </a:solidFill>
                <a:latin typeface="Consolas"/>
              </a:rPr>
              <a:t>engine_idling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7955" y="5349240"/>
            <a:ext cx="1580083" cy="384048"/>
          </a:xfrm>
          <a:prstGeom prst="roundRect">
            <a:avLst>
              <a:gd name="adj" fmla="val 50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46827" y="5486400"/>
            <a:ext cx="109728" cy="109728"/>
          </a:xfrm>
          <a:prstGeom prst="ellipse">
            <a:avLst/>
          </a:prstGeom>
          <a:solidFill>
            <a:srgbClr val="5D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20563" y="5422392"/>
            <a:ext cx="12874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5F3"/>
                </a:solidFill>
                <a:latin typeface="Consolas"/>
              </a:rPr>
              <a:t>children_playing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2194560"/>
            <a:ext cx="3794760" cy="2880360"/>
          </a:xfrm>
          <a:prstGeom prst="rect">
            <a:avLst/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4871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5F3"/>
                </a:solidFill>
                <a:latin typeface="맑은 고딕"/>
              </a:rPr>
              <a:t>음향 분류 모델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8803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C2C7"/>
                </a:solidFill>
                <a:latin typeface="Consolas"/>
              </a:rPr>
              <a:t>PANNs Cnn14 임베딩 + SVM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42900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0A0A0C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547872"/>
            <a:ext cx="1133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5D66"/>
                </a:solidFill>
                <a:latin typeface="Consolas"/>
              </a:rPr>
              <a:t>실차 검증 속도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794760"/>
            <a:ext cx="1133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3"/>
                </a:solidFill>
                <a:latin typeface="Consolas"/>
              </a:rPr>
              <a:t>50km/h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342900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0A0A0C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4392" y="3547872"/>
            <a:ext cx="1133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5D66"/>
                </a:solidFill>
                <a:latin typeface="Consolas"/>
              </a:rPr>
              <a:t>인식 정확도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3794760"/>
            <a:ext cx="1133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3"/>
                </a:solidFill>
                <a:latin typeface="Consolas"/>
              </a:rPr>
              <a:t>70%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438912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0A0A0C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4507992"/>
            <a:ext cx="1133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5D66"/>
                </a:solidFill>
                <a:latin typeface="Consolas"/>
              </a:rPr>
              <a:t>수음 범위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4754880"/>
            <a:ext cx="1133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3"/>
                </a:solidFill>
                <a:latin typeface="Consolas"/>
              </a:rPr>
              <a:t>360°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9800" y="438912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0A0A0C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94392" y="4507992"/>
            <a:ext cx="1133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5D66"/>
                </a:solidFill>
                <a:latin typeface="Consolas"/>
              </a:rPr>
              <a:t>분류 클래스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94392" y="4754880"/>
            <a:ext cx="1133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3"/>
                </a:solidFill>
                <a:latin typeface="Consolas"/>
              </a:rPr>
              <a:t>5종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60">
                <a:solidFill>
                  <a:srgbClr val="5D5D66"/>
                </a:solidFill>
                <a:latin typeface="Consolas"/>
              </a:rPr>
              <a:t>03 · 시스템 구조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49224"/>
            <a:ext cx="256032" cy="0"/>
          </a:xfrm>
          <a:prstGeom prst="line">
            <a:avLst/>
          </a:prstGeom>
          <a:ln w="1524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77824" y="548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00C2C7"/>
                </a:solidFill>
                <a:latin typeface="Consolas"/>
              </a:rPr>
              <a:t>HOW — 확인한다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5F3"/>
                </a:solidFill>
                <a:latin typeface="맑은 고딕"/>
              </a:rPr>
              <a:t>실제 학습 결과로 증명합니다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939C"/>
                </a:solidFill>
                <a:latin typeface="맑은 고딕"/>
              </a:rPr>
              <a:t>사이렌 방향에 여러 차량이 있어도, 카메라 영상에서 실제 구급차·오토바이를 짚어냅니다.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7040880" cy="4590288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l_batch1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6675120" cy="25866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5D66"/>
                </a:solidFill>
                <a:latin typeface="Consolas"/>
              </a:rPr>
              <a:t>yolo26m_v4_cls05 · validation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0C2C7"/>
                </a:solidFill>
                <a:latin typeface="Consolas"/>
              </a:rPr>
              <a:t>● Ambulance 0.9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14884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404872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C2C7"/>
                </a:solidFill>
                <a:latin typeface="Consolas"/>
              </a:rPr>
              <a:t>0.919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29184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3939C"/>
                </a:solidFill>
                <a:latin typeface="맑은 고딕"/>
              </a:rPr>
              <a:t>mAP50 — Motorcycle · Ambulance 검출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4206240"/>
            <a:ext cx="3703320" cy="2331720"/>
          </a:xfrm>
          <a:prstGeom prst="roundRect">
            <a:avLst>
              <a:gd name="adj" fmla="val 6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370831"/>
            <a:ext cx="24384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4152" y="623620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5D66"/>
                </a:solidFill>
                <a:latin typeface="Consolas"/>
              </a:rPr>
              <a:t>혼동행렬 · Ambulance 0.94 / Moto 0.83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60">
                <a:solidFill>
                  <a:srgbClr val="5D5D66"/>
                </a:solidFill>
                <a:latin typeface="Consolas"/>
              </a:rPr>
              <a:t>04 · 검출 결과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49224"/>
            <a:ext cx="256032" cy="0"/>
          </a:xfrm>
          <a:prstGeom prst="line">
            <a:avLst/>
          </a:prstGeom>
          <a:ln w="1524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77824" y="548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00C2C7"/>
                </a:solidFill>
                <a:latin typeface="Consolas"/>
              </a:rPr>
              <a:t>결과물 — 화면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5F5F3"/>
                </a:solidFill>
                <a:latin typeface="맑은 고딕"/>
              </a:rPr>
              <a:t>운전자가 실제로
보게 될 화면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7040880" cy="3977639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2313432"/>
            <a:ext cx="6711696" cy="3319272"/>
          </a:xfrm>
          <a:prstGeom prst="roundRect">
            <a:avLst>
              <a:gd name="adj" fmla="val 3000"/>
            </a:avLst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790188"/>
            <a:ext cx="671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A2E36"/>
                </a:solidFill>
                <a:latin typeface="맑은 고딕"/>
              </a:rPr>
              <a:t>[ 좌측 카메라 영상 ]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3273552"/>
            <a:ext cx="1965960" cy="1417320"/>
          </a:xfrm>
          <a:prstGeom prst="rect">
            <a:avLst/>
          </a:prstGeom>
          <a:noFill/>
          <a:ln w="2794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16352" y="2962656"/>
            <a:ext cx="1417320" cy="29260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298094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B0B0B"/>
                </a:solidFill>
                <a:latin typeface="맑은 고딕"/>
              </a:rPr>
              <a:t>Ambulance 92%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2542032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60604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5F5F3"/>
                </a:solidFill>
                <a:latin typeface="맑은 고딕"/>
              </a:rPr>
              <a:t>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256946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3"/>
                </a:solidFill>
                <a:latin typeface="맑은 고딕"/>
              </a:rPr>
              <a:t>사이렌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2880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D400"/>
                </a:solidFill>
                <a:latin typeface="맑은 고딕"/>
              </a:rPr>
              <a:t>주의  </a:t>
            </a:r>
            <a:r>
              <a:rPr sz="1150" b="0">
                <a:solidFill>
                  <a:srgbClr val="5D5D66"/>
                </a:solidFill>
                <a:latin typeface="맑은 고딕"/>
              </a:rPr>
              <a:t>→ 좌측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87567" y="5175504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7" y="52303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0B0B"/>
                </a:solidFill>
                <a:latin typeface="맑은 고딕"/>
              </a:rPr>
              <a:t>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5175504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C1E24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7" y="52303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A5F6A"/>
                </a:solidFill>
                <a:latin typeface="맑은 고딕"/>
              </a:rPr>
              <a:t>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7" y="5175504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C1E24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7" y="52303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A5F6A"/>
                </a:solidFill>
                <a:latin typeface="맑은 고딕"/>
              </a:rPr>
              <a:t>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42431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5D66"/>
                </a:solidFill>
                <a:latin typeface="Consolas"/>
              </a:rPr>
              <a:t>9/8 데모 · 카메라 주화면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42431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D5D66"/>
                </a:solidFill>
                <a:latin typeface="Consolas"/>
              </a:rPr>
              <a:t>실시간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2148840"/>
            <a:ext cx="3703320" cy="3977639"/>
          </a:xfrm>
          <a:prstGeom prst="roundRect">
            <a:avLst>
              <a:gd name="adj" fmla="val 5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95460" y="3474720"/>
            <a:ext cx="731520" cy="731520"/>
          </a:xfrm>
          <a:prstGeom prst="ellipse">
            <a:avLst/>
          </a:prstGeom>
          <a:noFill/>
          <a:ln w="12700">
            <a:solidFill>
              <a:srgbClr val="1E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92540" y="2971800"/>
            <a:ext cx="1737360" cy="1737360"/>
          </a:xfrm>
          <a:prstGeom prst="ellipse">
            <a:avLst/>
          </a:prstGeom>
          <a:noFill/>
          <a:ln w="12700">
            <a:solidFill>
              <a:srgbClr val="1E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89620" y="2468880"/>
            <a:ext cx="2743200" cy="2743200"/>
          </a:xfrm>
          <a:prstGeom prst="ellipse">
            <a:avLst/>
          </a:prstGeom>
          <a:noFill/>
          <a:ln w="12700">
            <a:solidFill>
              <a:srgbClr val="1E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>
            <a:off x="8389620" y="2468880"/>
            <a:ext cx="2743200" cy="2743200"/>
          </a:xfrm>
          <a:prstGeom prst="arc">
            <a:avLst>
              <a:gd name="adj1" fmla="val 62000"/>
              <a:gd name="adj2" fmla="val 86000"/>
            </a:avLst>
          </a:prstGeom>
          <a:noFill/>
          <a:ln w="127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ie 27"/>
          <p:cNvSpPr/>
          <p:nvPr/>
        </p:nvSpPr>
        <p:spPr>
          <a:xfrm>
            <a:off x="8389620" y="2468880"/>
            <a:ext cx="2743200" cy="2743200"/>
          </a:xfrm>
          <a:prstGeom prst="pie">
            <a:avLst>
              <a:gd name="adj1" fmla="val 20000000"/>
              <a:gd name="adj2" fmla="val 2500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96628" y="3566160"/>
            <a:ext cx="329184" cy="548640"/>
          </a:xfrm>
          <a:prstGeom prst="roundRect">
            <a:avLst>
              <a:gd name="adj" fmla="val 35000"/>
            </a:avLst>
          </a:prstGeom>
          <a:noFill/>
          <a:ln w="3048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669048" y="3610051"/>
            <a:ext cx="184343" cy="197510"/>
          </a:xfrm>
          <a:custGeom>
            <a:avLst/>
            <a:gdLst/>
            <a:ahLst/>
            <a:cxnLst/>
            <a:rect l="l" t="t" r="r" b="b"/>
            <a:pathLst>
              <a:path w="184343" h="197510">
                <a:moveTo>
                  <a:pt x="0" y="197510"/>
                </a:moveTo>
                <a:lnTo>
                  <a:pt x="92172" y="0"/>
                </a:lnTo>
                <a:lnTo>
                  <a:pt x="184343" y="197510"/>
                </a:lnTo>
              </a:path>
            </a:pathLst>
          </a:custGeom>
          <a:noFill/>
          <a:ln w="3048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46820" y="2788920"/>
            <a:ext cx="384048" cy="640080"/>
          </a:xfrm>
          <a:prstGeom prst="roundRect">
            <a:avLst>
              <a:gd name="adj" fmla="val 30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6780" y="24688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3B30"/>
                </a:solidFill>
                <a:latin typeface="Consolas"/>
              </a:rPr>
              <a:t>24m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440679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D5D66"/>
                </a:solidFill>
                <a:latin typeface="Consolas"/>
              </a:rPr>
              <a:t>10월 최종 시연 — </a:t>
            </a:r>
            <a:r>
              <a:rPr sz="1050" b="1">
                <a:solidFill>
                  <a:srgbClr val="FFD400"/>
                </a:solidFill>
                <a:latin typeface="Consolas"/>
              </a:rPr>
              <a:t>LiDAR</a:t>
            </a:r>
            <a:r>
              <a:rPr sz="1050" b="0">
                <a:solidFill>
                  <a:srgbClr val="5D5D66"/>
                </a:solidFill>
                <a:latin typeface="Consolas"/>
              </a:rPr>
              <a:t> 결합, 거리까지
확정한 BEV 지도 (로드맵)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60">
                <a:solidFill>
                  <a:srgbClr val="5D5D66"/>
                </a:solidFill>
                <a:latin typeface="Consolas"/>
              </a:rPr>
              <a:t>05 · 최종 결과물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49224"/>
            <a:ext cx="256032" cy="0"/>
          </a:xfrm>
          <a:prstGeom prst="line">
            <a:avLst/>
          </a:prstGeom>
          <a:ln w="1524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77824" y="548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00C2C7"/>
                </a:solidFill>
                <a:latin typeface="Consolas"/>
              </a:rPr>
              <a:t>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3"/>
                </a:solidFill>
                <a:latin typeface="맑은 고딕"/>
              </a:rPr>
              <a:t>9/8 영상 제출 → 10월 말 최종 시연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286000"/>
            <a:ext cx="10149840" cy="0"/>
          </a:xfrm>
          <a:prstGeom prst="line">
            <a:avLst/>
          </a:prstGeom>
          <a:ln w="27940">
            <a:solidFill>
              <a:srgbClr val="2323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2286000"/>
            <a:ext cx="3856939" cy="0"/>
          </a:xfrm>
          <a:prstGeom prst="line">
            <a:avLst/>
          </a:prstGeom>
          <a:ln w="27940">
            <a:solidFill>
              <a:srgbClr val="00C2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96112" y="2176272"/>
            <a:ext cx="219456" cy="219456"/>
          </a:xfrm>
          <a:prstGeom prst="ellipse">
            <a:avLst/>
          </a:prstGeom>
          <a:solidFill>
            <a:srgbClr val="00C2C7"/>
          </a:solidFill>
          <a:ln w="2540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2542032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3939C"/>
                </a:solidFill>
                <a:latin typeface="맑은 고딕"/>
              </a:rPr>
              <a:t>중간보고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2999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D5D66"/>
                </a:solidFill>
                <a:latin typeface="Consolas"/>
              </a:rPr>
              <a:t>8/01</a:t>
            </a:r>
          </a:p>
        </p:txBody>
      </p:sp>
      <p:sp>
        <p:nvSpPr>
          <p:cNvPr id="10" name="Oval 9"/>
          <p:cNvSpPr/>
          <p:nvPr/>
        </p:nvSpPr>
        <p:spPr>
          <a:xfrm>
            <a:off x="4753051" y="2176272"/>
            <a:ext cx="219456" cy="219456"/>
          </a:xfrm>
          <a:prstGeom prst="ellipse">
            <a:avLst/>
          </a:prstGeom>
          <a:solidFill>
            <a:srgbClr val="FFD400"/>
          </a:solidFill>
          <a:ln w="25400">
            <a:solidFill>
              <a:srgbClr val="FFD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4099" y="2542032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D400"/>
                </a:solidFill>
                <a:latin typeface="맑은 고딕"/>
              </a:rPr>
              <a:t>지금 — 촬영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4099" y="2999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D5D66"/>
                </a:solidFill>
                <a:latin typeface="Consolas"/>
              </a:rPr>
              <a:t>8/26</a:t>
            </a:r>
          </a:p>
        </p:txBody>
      </p:sp>
      <p:sp>
        <p:nvSpPr>
          <p:cNvPr id="13" name="Oval 12"/>
          <p:cNvSpPr/>
          <p:nvPr/>
        </p:nvSpPr>
        <p:spPr>
          <a:xfrm>
            <a:off x="8203996" y="2176272"/>
            <a:ext cx="219456" cy="219456"/>
          </a:xfrm>
          <a:prstGeom prst="ellipse">
            <a:avLst/>
          </a:prstGeom>
          <a:solidFill>
            <a:srgbClr val="0A0A0C"/>
          </a:solidFill>
          <a:ln w="254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5044" y="2542032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3939C"/>
                </a:solidFill>
                <a:latin typeface="맑은 고딕"/>
              </a:rPr>
              <a:t>한이음 영상 제출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5044" y="2999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D5D66"/>
                </a:solidFill>
                <a:latin typeface="Consolas"/>
              </a:rPr>
              <a:t>9/08 16:00</a:t>
            </a:r>
          </a:p>
        </p:txBody>
      </p:sp>
      <p:sp>
        <p:nvSpPr>
          <p:cNvPr id="16" name="Oval 15"/>
          <p:cNvSpPr/>
          <p:nvPr/>
        </p:nvSpPr>
        <p:spPr>
          <a:xfrm>
            <a:off x="11045952" y="2176272"/>
            <a:ext cx="219456" cy="219456"/>
          </a:xfrm>
          <a:prstGeom prst="ellipse">
            <a:avLst/>
          </a:prstGeom>
          <a:solidFill>
            <a:srgbClr val="0A0A0C"/>
          </a:solidFill>
          <a:ln w="254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2542032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3939C"/>
                </a:solidFill>
                <a:latin typeface="맑은 고딕"/>
              </a:rPr>
              <a:t>최종 시연 (카메라4대+LiDAR)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999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D5D66"/>
                </a:solidFill>
                <a:latin typeface="Consolas"/>
              </a:rPr>
              <a:t>10월 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114800"/>
            <a:ext cx="1847088" cy="1737360"/>
          </a:xfrm>
          <a:prstGeom prst="roundRect">
            <a:avLst>
              <a:gd name="adj" fmla="val 8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4279392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C2C7"/>
                </a:solidFill>
                <a:latin typeface="Consolas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617720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5F5F3"/>
                </a:solidFill>
                <a:latin typeface="맑은 고딕"/>
              </a:rPr>
              <a:t>소리 인식 개선
방풍 커버 재측정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5486400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5D66"/>
                </a:solidFill>
                <a:latin typeface="Consolas"/>
              </a:rPr>
              <a:t>준비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81528" y="4114800"/>
            <a:ext cx="1847088" cy="1737360"/>
          </a:xfrm>
          <a:prstGeom prst="roundRect">
            <a:avLst>
              <a:gd name="adj" fmla="val 8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4279392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C2C7"/>
                </a:solidFill>
                <a:latin typeface="Consolas"/>
              </a:rPr>
              <a:t>M2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617720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5F5F3"/>
                </a:solidFill>
                <a:latin typeface="맑은 고딕"/>
              </a:rPr>
              <a:t>방향 추정
사이렌 전용 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486400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5D66"/>
                </a:solidFill>
                <a:latin typeface="Consolas"/>
              </a:rPr>
              <a:t>준비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57216" y="4114800"/>
            <a:ext cx="1847088" cy="1737360"/>
          </a:xfrm>
          <a:prstGeom prst="roundRect">
            <a:avLst>
              <a:gd name="adj" fmla="val 8000"/>
            </a:avLst>
          </a:prstGeom>
          <a:solidFill>
            <a:srgbClr val="0E0E11"/>
          </a:solidFill>
          <a:ln w="16510">
            <a:solidFill>
              <a:srgbClr val="00C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21808" y="4279392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C2C7"/>
                </a:solidFill>
                <a:latin typeface="Consolas"/>
              </a:rPr>
              <a:t>M3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4617720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5F5F3"/>
                </a:solidFill>
                <a:latin typeface="맑은 고딕"/>
              </a:rPr>
              <a:t>카메라 전환
방향별 화면 자동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5486400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0C2C7"/>
                </a:solidFill>
                <a:latin typeface="Consolas"/>
              </a:rPr>
              <a:t>● 시연 가능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32904" y="4114800"/>
            <a:ext cx="1847088" cy="1737360"/>
          </a:xfrm>
          <a:prstGeom prst="roundRect">
            <a:avLst>
              <a:gd name="adj" fmla="val 8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7496" y="4279392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C2C7"/>
                </a:solidFill>
                <a:latin typeface="Consolas"/>
              </a:rPr>
              <a:t>M4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7496" y="4617720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5F5F3"/>
                </a:solidFill>
                <a:latin typeface="맑은 고딕"/>
              </a:rPr>
              <a:t>경광등 검출
+ LiDAR 거리 연결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7496" y="5486400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5D66"/>
                </a:solidFill>
                <a:latin typeface="Consolas"/>
              </a:rPr>
              <a:t>확장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08592" y="4114800"/>
            <a:ext cx="1847088" cy="1737360"/>
          </a:xfrm>
          <a:prstGeom prst="roundRect">
            <a:avLst>
              <a:gd name="adj" fmla="val 8000"/>
            </a:avLst>
          </a:prstGeom>
          <a:solidFill>
            <a:srgbClr val="0E0E11"/>
          </a:solidFill>
          <a:ln w="12700">
            <a:solidFill>
              <a:srgbClr val="232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3184" y="4279392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C2C7"/>
                </a:solidFill>
                <a:latin typeface="Consolas"/>
              </a:rPr>
              <a:t>M5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4617720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5F5F3"/>
                </a:solidFill>
                <a:latin typeface="맑은 고딕"/>
              </a:rPr>
              <a:t>오토바이 경고
골목·근접 대응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3184" y="5486400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5D66"/>
                </a:solidFill>
                <a:latin typeface="Consolas"/>
              </a:rPr>
              <a:t>확장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60">
                <a:solidFill>
                  <a:srgbClr val="5D5D66"/>
                </a:solidFill>
                <a:latin typeface="Consolas"/>
              </a:rPr>
              <a:t>06 · 로드맵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27448" y="182880"/>
            <a:ext cx="2743200" cy="2743200"/>
          </a:xfrm>
          <a:prstGeom prst="ellips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F5F5F3"/>
                </a:solidFill>
                <a:latin typeface="맑은 고딕"/>
              </a:rPr>
              <a:t>올빼미러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C2C7"/>
                </a:solidFill>
                <a:latin typeface="맑은 고딕"/>
              </a:rPr>
              <a:t>눈보다 먼저 듣는 안전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3484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5D5D66"/>
                </a:solidFill>
                <a:latin typeface="Consolas"/>
              </a:rPr>
              <a:t>AI 기반 실시간 외부 음향 인식 및 운전자 시각화 보조 시스템
한이음 공모전 · 5인 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